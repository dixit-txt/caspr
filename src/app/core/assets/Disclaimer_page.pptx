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5143500" cx="9144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Inter-boldItalic.fntdata"/><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b23c8dadf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g37b23c8dadf_0_0:notes"/>
          <p:cNvSpPr txBox="1"/>
          <p:nvPr>
            <p:ph idx="1" type="body"/>
          </p:nvPr>
        </p:nvSpPr>
        <p:spPr>
          <a:xfrm>
            <a:off x="685800" y="3300413"/>
            <a:ext cx="5486400" cy="2700600"/>
          </a:xfrm>
          <a:prstGeom prst="rect">
            <a:avLst/>
          </a:prstGeom>
          <a:noFill/>
          <a:ln>
            <a:noFill/>
          </a:ln>
        </p:spPr>
        <p:txBody>
          <a:bodyPr anchorCtr="1" anchor="t" bIns="0" lIns="0" spcFirstLastPara="1" rIns="0" wrap="square" tIns="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 name="Google Shape;53;g37b23c8dadf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caspr.ai/" TargetMode="External"/><Relationship Id="rId6" Type="http://schemas.openxmlformats.org/officeDocument/2006/relationships/image" Target="../media/image2.png"/><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p:nvPr/>
        </p:nvSpPr>
        <p:spPr>
          <a:xfrm>
            <a:off x="160" y="0"/>
            <a:ext cx="6028500" cy="5143200"/>
          </a:xfrm>
          <a:prstGeom prst="rect">
            <a:avLst/>
          </a:prstGeom>
          <a:solidFill>
            <a:srgbClr val="F2F2F2"/>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id="56" name="Google Shape;56;p13"/>
          <p:cNvPicPr preferRelativeResize="0"/>
          <p:nvPr/>
        </p:nvPicPr>
        <p:blipFill rotWithShape="1">
          <a:blip r:embed="rId3">
            <a:alphaModFix/>
          </a:blip>
          <a:srcRect b="0" l="0" r="23977" t="0"/>
          <a:stretch/>
        </p:blipFill>
        <p:spPr>
          <a:xfrm>
            <a:off x="5010466" y="2916978"/>
            <a:ext cx="1017684" cy="1338794"/>
          </a:xfrm>
          <a:prstGeom prst="rect">
            <a:avLst/>
          </a:prstGeom>
          <a:noFill/>
          <a:ln>
            <a:noFill/>
          </a:ln>
        </p:spPr>
      </p:pic>
      <p:grpSp>
        <p:nvGrpSpPr>
          <p:cNvPr id="57" name="Google Shape;57;p13"/>
          <p:cNvGrpSpPr/>
          <p:nvPr/>
        </p:nvGrpSpPr>
        <p:grpSpPr>
          <a:xfrm>
            <a:off x="161" y="4735577"/>
            <a:ext cx="810301" cy="810390"/>
            <a:chOff x="-634786" y="5679101"/>
            <a:chExt cx="1080401" cy="1080520"/>
          </a:xfrm>
        </p:grpSpPr>
        <p:grpSp>
          <p:nvGrpSpPr>
            <p:cNvPr id="58" name="Google Shape;58;p13"/>
            <p:cNvGrpSpPr/>
            <p:nvPr/>
          </p:nvGrpSpPr>
          <p:grpSpPr>
            <a:xfrm>
              <a:off x="-634786" y="6216682"/>
              <a:ext cx="542820" cy="542939"/>
              <a:chOff x="-634786" y="6216682"/>
              <a:chExt cx="542820" cy="542939"/>
            </a:xfrm>
          </p:grpSpPr>
          <p:sp>
            <p:nvSpPr>
              <p:cNvPr id="59" name="Google Shape;59;p13"/>
              <p:cNvSpPr/>
              <p:nvPr/>
            </p:nvSpPr>
            <p:spPr>
              <a:xfrm rot="-5400000">
                <a:off x="-634786" y="6223173"/>
                <a:ext cx="536448" cy="536448"/>
              </a:xfrm>
              <a:custGeom>
                <a:rect b="b" l="l" r="r" t="t"/>
                <a:pathLst>
                  <a:path extrusionOk="0" h="812800" w="812800">
                    <a:moveTo>
                      <a:pt x="0" y="0"/>
                    </a:moveTo>
                    <a:lnTo>
                      <a:pt x="812800" y="0"/>
                    </a:lnTo>
                    <a:lnTo>
                      <a:pt x="812800" y="812800"/>
                    </a:lnTo>
                    <a:lnTo>
                      <a:pt x="0" y="812800"/>
                    </a:lnTo>
                    <a:close/>
                  </a:path>
                </a:pathLst>
              </a:custGeom>
              <a:solidFill>
                <a:srgbClr val="E1E1E2"/>
              </a:solidFill>
              <a:ln>
                <a:noFill/>
              </a:ln>
            </p:spPr>
            <p:txBody>
              <a:bodyPr anchorCtr="0" anchor="t" bIns="44975" lIns="89975" spcFirstLastPara="1" rIns="89975" wrap="square" tIns="449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60" name="Google Shape;60;p13"/>
              <p:cNvSpPr/>
              <p:nvPr/>
            </p:nvSpPr>
            <p:spPr>
              <a:xfrm rot="-5400000">
                <a:off x="-622366" y="6222982"/>
                <a:ext cx="536700" cy="524100"/>
              </a:xfrm>
              <a:prstGeom prst="rect">
                <a:avLst/>
              </a:prstGeom>
              <a:noFill/>
              <a:ln>
                <a:noFill/>
              </a:ln>
            </p:spPr>
            <p:txBody>
              <a:bodyPr anchorCtr="0" anchor="ctr" bIns="14025" lIns="14025" spcFirstLastPara="1" rIns="140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61" name="Google Shape;61;p13"/>
            <p:cNvGrpSpPr/>
            <p:nvPr/>
          </p:nvGrpSpPr>
          <p:grpSpPr>
            <a:xfrm>
              <a:off x="-97685" y="6216682"/>
              <a:ext cx="543300" cy="542939"/>
              <a:chOff x="-97685" y="6216682"/>
              <a:chExt cx="543300" cy="542939"/>
            </a:xfrm>
          </p:grpSpPr>
          <p:sp>
            <p:nvSpPr>
              <p:cNvPr id="62" name="Google Shape;62;p13"/>
              <p:cNvSpPr/>
              <p:nvPr/>
            </p:nvSpPr>
            <p:spPr>
              <a:xfrm rot="-5400000">
                <a:off x="-97685" y="6223173"/>
                <a:ext cx="536448" cy="536448"/>
              </a:xfrm>
              <a:custGeom>
                <a:rect b="b" l="l" r="r" t="t"/>
                <a:pathLst>
                  <a:path extrusionOk="0" h="812800" w="812800">
                    <a:moveTo>
                      <a:pt x="0" y="0"/>
                    </a:moveTo>
                    <a:lnTo>
                      <a:pt x="812800" y="0"/>
                    </a:lnTo>
                    <a:lnTo>
                      <a:pt x="812800" y="812800"/>
                    </a:lnTo>
                    <a:lnTo>
                      <a:pt x="0" y="812800"/>
                    </a:lnTo>
                    <a:close/>
                  </a:path>
                </a:pathLst>
              </a:custGeom>
              <a:solidFill>
                <a:srgbClr val="EBEBEC"/>
              </a:solidFill>
              <a:ln>
                <a:noFill/>
              </a:ln>
            </p:spPr>
            <p:txBody>
              <a:bodyPr anchorCtr="0" anchor="t" bIns="44975" lIns="89975" spcFirstLastPara="1" rIns="89975" wrap="square" tIns="449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63" name="Google Shape;63;p13"/>
              <p:cNvSpPr/>
              <p:nvPr/>
            </p:nvSpPr>
            <p:spPr>
              <a:xfrm rot="-5400000">
                <a:off x="-84785" y="6222982"/>
                <a:ext cx="536700" cy="524100"/>
              </a:xfrm>
              <a:prstGeom prst="rect">
                <a:avLst/>
              </a:prstGeom>
              <a:noFill/>
              <a:ln>
                <a:noFill/>
              </a:ln>
            </p:spPr>
            <p:txBody>
              <a:bodyPr anchorCtr="0" anchor="ctr" bIns="14025" lIns="14025" spcFirstLastPara="1" rIns="140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64" name="Google Shape;64;p13"/>
            <p:cNvGrpSpPr/>
            <p:nvPr/>
          </p:nvGrpSpPr>
          <p:grpSpPr>
            <a:xfrm>
              <a:off x="-634786" y="5679101"/>
              <a:ext cx="542820" cy="542938"/>
              <a:chOff x="-634786" y="5679100"/>
              <a:chExt cx="542820" cy="542938"/>
            </a:xfrm>
          </p:grpSpPr>
          <p:sp>
            <p:nvSpPr>
              <p:cNvPr id="65" name="Google Shape;65;p13"/>
              <p:cNvSpPr/>
              <p:nvPr/>
            </p:nvSpPr>
            <p:spPr>
              <a:xfrm rot="-5400000">
                <a:off x="-634786" y="5685590"/>
                <a:ext cx="536448" cy="536448"/>
              </a:xfrm>
              <a:custGeom>
                <a:rect b="b" l="l" r="r" t="t"/>
                <a:pathLst>
                  <a:path extrusionOk="0" h="812800" w="812800">
                    <a:moveTo>
                      <a:pt x="0" y="0"/>
                    </a:moveTo>
                    <a:lnTo>
                      <a:pt x="812800" y="0"/>
                    </a:lnTo>
                    <a:lnTo>
                      <a:pt x="812800" y="812800"/>
                    </a:lnTo>
                    <a:lnTo>
                      <a:pt x="0" y="812800"/>
                    </a:lnTo>
                    <a:close/>
                  </a:path>
                </a:pathLst>
              </a:custGeom>
              <a:solidFill>
                <a:srgbClr val="EAEAEB"/>
              </a:solidFill>
              <a:ln>
                <a:noFill/>
              </a:ln>
            </p:spPr>
            <p:txBody>
              <a:bodyPr anchorCtr="0" anchor="t" bIns="44975" lIns="89975" spcFirstLastPara="1" rIns="89975" wrap="square" tIns="449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66" name="Google Shape;66;p13"/>
              <p:cNvSpPr/>
              <p:nvPr/>
            </p:nvSpPr>
            <p:spPr>
              <a:xfrm rot="-5400000">
                <a:off x="-622366" y="5685400"/>
                <a:ext cx="536700" cy="524100"/>
              </a:xfrm>
              <a:prstGeom prst="rect">
                <a:avLst/>
              </a:prstGeom>
              <a:noFill/>
              <a:ln>
                <a:noFill/>
              </a:ln>
            </p:spPr>
            <p:txBody>
              <a:bodyPr anchorCtr="0" anchor="ctr" bIns="14025" lIns="14025" spcFirstLastPara="1" rIns="140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pic>
        <p:nvPicPr>
          <p:cNvPr id="67" name="Google Shape;67;p13"/>
          <p:cNvPicPr preferRelativeResize="0"/>
          <p:nvPr/>
        </p:nvPicPr>
        <p:blipFill rotWithShape="1">
          <a:blip r:embed="rId4">
            <a:alphaModFix/>
          </a:blip>
          <a:srcRect b="0" l="33399" r="0" t="33818"/>
          <a:stretch/>
        </p:blipFill>
        <p:spPr>
          <a:xfrm>
            <a:off x="160" y="4319"/>
            <a:ext cx="910408" cy="904648"/>
          </a:xfrm>
          <a:prstGeom prst="rect">
            <a:avLst/>
          </a:prstGeom>
          <a:noFill/>
          <a:ln>
            <a:noFill/>
          </a:ln>
        </p:spPr>
      </p:pic>
      <p:sp>
        <p:nvSpPr>
          <p:cNvPr id="68" name="Google Shape;68;p13"/>
          <p:cNvSpPr/>
          <p:nvPr/>
        </p:nvSpPr>
        <p:spPr>
          <a:xfrm>
            <a:off x="5986387" y="0"/>
            <a:ext cx="3156900" cy="5143200"/>
          </a:xfrm>
          <a:prstGeom prst="roundRect">
            <a:avLst>
              <a:gd fmla="val 0" name="adj"/>
            </a:avLst>
          </a:prstGeom>
          <a:gradFill>
            <a:gsLst>
              <a:gs pos="0">
                <a:srgbClr val="C9102F"/>
              </a:gs>
              <a:gs pos="50000">
                <a:srgbClr val="E74746"/>
              </a:gs>
              <a:gs pos="100000">
                <a:srgbClr val="E74746"/>
              </a:gs>
            </a:gsLst>
            <a:lin ang="2700006" scaled="0"/>
          </a:gradFill>
          <a:ln>
            <a:noFill/>
          </a:ln>
        </p:spPr>
        <p:txBody>
          <a:bodyPr anchorCtr="0" anchor="t"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69" name="Google Shape;69;p13"/>
          <p:cNvSpPr/>
          <p:nvPr/>
        </p:nvSpPr>
        <p:spPr>
          <a:xfrm>
            <a:off x="412705" y="607299"/>
            <a:ext cx="5090100" cy="381600"/>
          </a:xfrm>
          <a:prstGeom prst="rect">
            <a:avLst/>
          </a:prstGeom>
          <a:no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rPr b="1" i="0" lang="en-GB" sz="1500" u="none" cap="none" strike="noStrike">
                <a:solidFill>
                  <a:srgbClr val="595959"/>
                </a:solidFill>
                <a:latin typeface="Calibri"/>
                <a:ea typeface="Calibri"/>
                <a:cs typeface="Calibri"/>
                <a:sym typeface="Calibri"/>
              </a:rPr>
              <a:t>Disclaimer</a:t>
            </a:r>
            <a:r>
              <a:rPr b="1" i="0" lang="en-GB" sz="1500" u="none" cap="none" strike="noStrike">
                <a:solidFill>
                  <a:srgbClr val="E74746"/>
                </a:solidFill>
                <a:latin typeface="Calibri"/>
                <a:ea typeface="Calibri"/>
                <a:cs typeface="Calibri"/>
                <a:sym typeface="Calibri"/>
              </a:rPr>
              <a:t>.</a:t>
            </a:r>
            <a:endParaRPr sz="1100"/>
          </a:p>
        </p:txBody>
      </p:sp>
      <p:sp>
        <p:nvSpPr>
          <p:cNvPr id="70" name="Google Shape;70;p13"/>
          <p:cNvSpPr/>
          <p:nvPr/>
        </p:nvSpPr>
        <p:spPr>
          <a:xfrm>
            <a:off x="566060" y="1009765"/>
            <a:ext cx="600480" cy="378"/>
          </a:xfrm>
          <a:custGeom>
            <a:rect b="b" l="l" r="r" t="t"/>
            <a:pathLst>
              <a:path extrusionOk="0" h="21600" w="21600">
                <a:moveTo>
                  <a:pt x="0" y="0"/>
                </a:moveTo>
                <a:lnTo>
                  <a:pt x="21600" y="21600"/>
                </a:lnTo>
              </a:path>
            </a:pathLst>
          </a:custGeom>
          <a:noFill/>
          <a:ln cap="flat" cmpd="sng" w="32125">
            <a:solidFill>
              <a:srgbClr val="E74746"/>
            </a:solidFill>
            <a:prstDash val="solid"/>
            <a:miter lim="8000"/>
            <a:headEnd len="sm" w="sm" type="none"/>
            <a:tailEnd len="sm" w="sm" type="none"/>
          </a:ln>
        </p:spPr>
        <p:txBody>
          <a:bodyPr anchorCtr="0" anchor="t" bIns="44975" lIns="89975" spcFirstLastPara="1" rIns="89975" wrap="square" tIns="449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71" name="Google Shape;71;p13"/>
          <p:cNvSpPr/>
          <p:nvPr/>
        </p:nvSpPr>
        <p:spPr>
          <a:xfrm>
            <a:off x="607460" y="1321874"/>
            <a:ext cx="4894500" cy="2585100"/>
          </a:xfrm>
          <a:prstGeom prst="rect">
            <a:avLst/>
          </a:prstGeom>
          <a:noFill/>
          <a:ln>
            <a:noFill/>
          </a:ln>
        </p:spPr>
        <p:txBody>
          <a:bodyPr anchorCtr="0" anchor="t" bIns="34175" lIns="68375" spcFirstLastPara="1" rIns="68375" wrap="square" tIns="34175">
            <a:noAutofit/>
          </a:bodyPr>
          <a:lstStyle/>
          <a:p>
            <a:pPr indent="0" lvl="0" marL="0" marR="0" rtl="0" algn="just">
              <a:lnSpc>
                <a:spcPct val="107000"/>
              </a:lnSpc>
              <a:spcBef>
                <a:spcPts val="0"/>
              </a:spcBef>
              <a:spcAft>
                <a:spcPts val="0"/>
              </a:spcAft>
              <a:buNone/>
            </a:pPr>
            <a:r>
              <a:rPr b="0" i="0" lang="en-GB" sz="800" u="none" cap="none" strike="noStrike">
                <a:solidFill>
                  <a:srgbClr val="000000"/>
                </a:solidFill>
                <a:latin typeface="Calibri"/>
                <a:ea typeface="Calibri"/>
                <a:cs typeface="Calibri"/>
                <a:sym typeface="Calibri"/>
              </a:rPr>
              <a:t>The information contained herein is strictly confidential and meant solely for the selected recipient and may not be altered in any way, transmitted to, copied or distributed, in part or in whole, to any other person or reproduced in any form, without the prior written consent of Caspr Research Private Limited. All trademarks mentioned are the property of their respective owners. Any copyrighted material used is intended to comply with applicable laws including fair use for illustrative, informational or reference purposes. The copyright for the same belongs to the respective owners and no claim is made to ownership of third-party content.</a:t>
            </a:r>
            <a:endParaRPr sz="1100"/>
          </a:p>
          <a:p>
            <a:pPr indent="0" lvl="0" marL="0" marR="0" rtl="0" algn="just">
              <a:lnSpc>
                <a:spcPct val="107000"/>
              </a:lnSpc>
              <a:spcBef>
                <a:spcPts val="600"/>
              </a:spcBef>
              <a:spcAft>
                <a:spcPts val="0"/>
              </a:spcAft>
              <a:buNone/>
            </a:pPr>
            <a:r>
              <a:rPr b="0" i="0" lang="en-GB" sz="800" u="none" cap="none" strike="noStrike">
                <a:solidFill>
                  <a:srgbClr val="000000"/>
                </a:solidFill>
                <a:latin typeface="Calibri"/>
                <a:ea typeface="Calibri"/>
                <a:cs typeface="Calibri"/>
                <a:sym typeface="Calibri"/>
              </a:rPr>
              <a:t>This report was prepared using Caspr.ai automated Al Research analysis engine. All insights and data presented are based on the best available public sources at the time of report generation, but we do not make any representation or warranty that it is accurate, complete or up-to-date and it should not be relied upon as such. Opinions expressed reflect analysis at the time of report generation and are subject to change without any obligation to keep the information current. While we strive for accuracy and relevance, please verify critical information independently before making business or investment decisions. This report is intended solely for informational purposes and does not constitute a professional advice or a substitute for independent judgement. Readers are cautioned that any forward-looking statements are not predictions and may be subject to change without notice. Caspr Research Private Limited, its directors and employees and any person connected with it, will not in any way be responsible for the contents of this report or for any losses, costs, expenses, charges, including notional losses/lost opportunities incurred by a recipient as a result of acting or non-acting on any information/material contained in the report.</a:t>
            </a:r>
            <a:endParaRPr sz="1100"/>
          </a:p>
        </p:txBody>
      </p:sp>
      <p:sp>
        <p:nvSpPr>
          <p:cNvPr id="72" name="Google Shape;72;p13"/>
          <p:cNvSpPr/>
          <p:nvPr/>
        </p:nvSpPr>
        <p:spPr>
          <a:xfrm>
            <a:off x="6574969" y="4906275"/>
            <a:ext cx="2569200" cy="190200"/>
          </a:xfrm>
          <a:prstGeom prst="rect">
            <a:avLst/>
          </a:prstGeom>
          <a:noFill/>
          <a:ln>
            <a:noFill/>
          </a:ln>
        </p:spPr>
        <p:txBody>
          <a:bodyPr anchorCtr="0" anchor="t" bIns="34175" lIns="68375" spcFirstLastPara="1" rIns="68375" wrap="square" tIns="34175">
            <a:noAutofit/>
          </a:bodyPr>
          <a:lstStyle/>
          <a:p>
            <a:pPr indent="0" lvl="0" marL="0" marR="0" rtl="0" algn="r">
              <a:lnSpc>
                <a:spcPct val="100000"/>
              </a:lnSpc>
              <a:spcBef>
                <a:spcPts val="0"/>
              </a:spcBef>
              <a:spcAft>
                <a:spcPts val="0"/>
              </a:spcAft>
              <a:buNone/>
            </a:pPr>
            <a:r>
              <a:rPr b="0" i="0" lang="en-GB" sz="800" u="none" cap="none" strike="noStrike">
                <a:solidFill>
                  <a:srgbClr val="FFFFFF"/>
                </a:solidFill>
                <a:latin typeface="Inter"/>
                <a:ea typeface="Inter"/>
                <a:cs typeface="Inter"/>
                <a:sym typeface="Inter"/>
              </a:rPr>
              <a:t>© Caspr Research Private Limited</a:t>
            </a:r>
            <a:endParaRPr sz="1100"/>
          </a:p>
        </p:txBody>
      </p:sp>
      <p:sp>
        <p:nvSpPr>
          <p:cNvPr id="73" name="Google Shape;73;p13"/>
          <p:cNvSpPr/>
          <p:nvPr/>
        </p:nvSpPr>
        <p:spPr>
          <a:xfrm>
            <a:off x="7835644" y="4713319"/>
            <a:ext cx="1308300" cy="312000"/>
          </a:xfrm>
          <a:prstGeom prst="rect">
            <a:avLst/>
          </a:prstGeom>
          <a:noFill/>
          <a:ln>
            <a:noFill/>
          </a:ln>
        </p:spPr>
        <p:txBody>
          <a:bodyPr anchorCtr="0" anchor="t" bIns="34175" lIns="68375" spcFirstLastPara="1" rIns="68375" wrap="square" tIns="34175">
            <a:noAutofit/>
          </a:bodyPr>
          <a:lstStyle/>
          <a:p>
            <a:pPr indent="0" lvl="0" marL="0" marR="0" rtl="0" algn="r">
              <a:lnSpc>
                <a:spcPct val="100000"/>
              </a:lnSpc>
              <a:spcBef>
                <a:spcPts val="0"/>
              </a:spcBef>
              <a:spcAft>
                <a:spcPts val="0"/>
              </a:spcAft>
              <a:buNone/>
            </a:pPr>
            <a:r>
              <a:rPr b="0" i="0" lang="en-GB" sz="800" u="none" cap="none" strike="noStrike">
                <a:solidFill>
                  <a:srgbClr val="FFFFFF"/>
                </a:solidFill>
                <a:latin typeface="Inter"/>
                <a:ea typeface="Inter"/>
                <a:cs typeface="Inter"/>
                <a:sym typeface="Inter"/>
              </a:rPr>
              <a:t>Singapore • India • UAE</a:t>
            </a:r>
            <a:endParaRPr sz="1100"/>
          </a:p>
        </p:txBody>
      </p:sp>
      <p:grpSp>
        <p:nvGrpSpPr>
          <p:cNvPr id="74" name="Google Shape;74;p13"/>
          <p:cNvGrpSpPr/>
          <p:nvPr/>
        </p:nvGrpSpPr>
        <p:grpSpPr>
          <a:xfrm>
            <a:off x="6172643" y="2231921"/>
            <a:ext cx="2837700" cy="2064279"/>
            <a:chOff x="7607005" y="2340895"/>
            <a:chExt cx="3783600" cy="2752372"/>
          </a:xfrm>
        </p:grpSpPr>
        <p:sp>
          <p:nvSpPr>
            <p:cNvPr id="75" name="Google Shape;75;p13"/>
            <p:cNvSpPr/>
            <p:nvPr/>
          </p:nvSpPr>
          <p:spPr>
            <a:xfrm>
              <a:off x="7611325" y="2385533"/>
              <a:ext cx="879900" cy="294600"/>
            </a:xfrm>
            <a:prstGeom prst="rect">
              <a:avLst/>
            </a:prstGeom>
            <a:noFill/>
            <a:ln>
              <a:noFill/>
            </a:ln>
          </p:spPr>
          <p:txBody>
            <a:bodyPr anchorCtr="0" anchor="t" bIns="34175" lIns="68375" spcFirstLastPara="1" rIns="68375" wrap="square" tIns="34175">
              <a:noAutofit/>
            </a:bodyPr>
            <a:lstStyle/>
            <a:p>
              <a:pPr indent="0" lvl="0" marL="0" marR="0" rtl="0" algn="l">
                <a:lnSpc>
                  <a:spcPct val="100000"/>
                </a:lnSpc>
                <a:spcBef>
                  <a:spcPts val="0"/>
                </a:spcBef>
                <a:spcAft>
                  <a:spcPts val="0"/>
                </a:spcAft>
                <a:buNone/>
              </a:pPr>
              <a:r>
                <a:rPr b="0" i="0" lang="en-GB" sz="1000" u="none" cap="none" strike="noStrike">
                  <a:solidFill>
                    <a:srgbClr val="F2F2F2"/>
                  </a:solidFill>
                  <a:latin typeface="Calibri"/>
                  <a:ea typeface="Calibri"/>
                  <a:cs typeface="Calibri"/>
                  <a:sym typeface="Calibri"/>
                </a:rPr>
                <a:t>ABOUT</a:t>
              </a:r>
              <a:endParaRPr sz="1100"/>
            </a:p>
          </p:txBody>
        </p:sp>
        <p:sp>
          <p:nvSpPr>
            <p:cNvPr id="76" name="Google Shape;76;p13"/>
            <p:cNvSpPr/>
            <p:nvPr/>
          </p:nvSpPr>
          <p:spPr>
            <a:xfrm>
              <a:off x="7607005" y="2638967"/>
              <a:ext cx="3783600" cy="2454300"/>
            </a:xfrm>
            <a:prstGeom prst="rect">
              <a:avLst/>
            </a:prstGeom>
            <a:noFill/>
            <a:ln>
              <a:noFill/>
            </a:ln>
          </p:spPr>
          <p:txBody>
            <a:bodyPr anchorCtr="0" anchor="t" bIns="34175" lIns="68375" spcFirstLastPara="1" rIns="68375" wrap="square" tIns="34175">
              <a:noAutofit/>
            </a:bodyPr>
            <a:lstStyle/>
            <a:p>
              <a:pPr indent="0" lvl="0" marL="0" marR="0" rtl="0" algn="l">
                <a:lnSpc>
                  <a:spcPct val="100000"/>
                </a:lnSpc>
                <a:spcBef>
                  <a:spcPts val="0"/>
                </a:spcBef>
                <a:spcAft>
                  <a:spcPts val="0"/>
                </a:spcAft>
                <a:buNone/>
              </a:pPr>
              <a:r>
                <a:rPr b="0" i="0" lang="en-GB" sz="900" u="none" cap="none" strike="noStrike">
                  <a:solidFill>
                    <a:srgbClr val="F2F2F2"/>
                  </a:solidFill>
                  <a:latin typeface="Calibri"/>
                  <a:ea typeface="Calibri"/>
                  <a:cs typeface="Calibri"/>
                  <a:sym typeface="Calibri"/>
                </a:rPr>
                <a:t>Caspr. is out Proprietary Full- Stack AI Market Research analyst. </a:t>
              </a:r>
              <a:r>
                <a:rPr b="1" i="0" lang="en-GB" sz="900" u="none" cap="none" strike="noStrike">
                  <a:solidFill>
                    <a:srgbClr val="F2F2F2"/>
                  </a:solidFill>
                  <a:latin typeface="Calibri"/>
                  <a:ea typeface="Calibri"/>
                  <a:cs typeface="Calibri"/>
                  <a:sym typeface="Calibri"/>
                </a:rPr>
                <a:t>The Caspr. Learning Engine </a:t>
              </a:r>
              <a:r>
                <a:rPr b="0" i="0" lang="en-GB" sz="900" u="none" cap="none" strike="noStrike">
                  <a:solidFill>
                    <a:srgbClr val="F2F2F2"/>
                  </a:solidFill>
                  <a:latin typeface="Calibri"/>
                  <a:ea typeface="Calibri"/>
                  <a:cs typeface="Calibri"/>
                  <a:sym typeface="Calibri"/>
                </a:rPr>
                <a:t>curates credible sources of data and has pipelines to LIVE streams of information.</a:t>
              </a:r>
              <a:endParaRPr sz="1100"/>
            </a:p>
            <a:p>
              <a:pPr indent="0" lvl="0" marL="0" marR="0" rtl="0" algn="l">
                <a:lnSpc>
                  <a:spcPct val="100000"/>
                </a:lnSpc>
                <a:spcBef>
                  <a:spcPts val="500"/>
                </a:spcBef>
                <a:spcAft>
                  <a:spcPts val="0"/>
                </a:spcAft>
                <a:buNone/>
              </a:pPr>
              <a:r>
                <a:rPr b="1" i="0" lang="en-GB" sz="900" u="none" cap="none" strike="noStrike">
                  <a:solidFill>
                    <a:srgbClr val="F2F2F2"/>
                  </a:solidFill>
                  <a:latin typeface="Calibri"/>
                  <a:ea typeface="Calibri"/>
                  <a:cs typeface="Calibri"/>
                  <a:sym typeface="Calibri"/>
                </a:rPr>
                <a:t>The Caspr. Thinking Brain </a:t>
              </a:r>
              <a:r>
                <a:rPr b="0" i="0" lang="en-GB" sz="900" u="none" cap="none" strike="noStrike">
                  <a:solidFill>
                    <a:srgbClr val="F2F2F2"/>
                  </a:solidFill>
                  <a:latin typeface="Calibri"/>
                  <a:ea typeface="Calibri"/>
                  <a:cs typeface="Calibri"/>
                  <a:sym typeface="Calibri"/>
                </a:rPr>
                <a:t>analyses these diverse sources of information and creates Quantitative &amp; Qualitative insights.</a:t>
              </a:r>
              <a:endParaRPr sz="1100"/>
            </a:p>
            <a:p>
              <a:pPr indent="0" lvl="0" marL="0" marR="0" rtl="0" algn="l">
                <a:lnSpc>
                  <a:spcPct val="100000"/>
                </a:lnSpc>
                <a:spcBef>
                  <a:spcPts val="500"/>
                </a:spcBef>
                <a:spcAft>
                  <a:spcPts val="0"/>
                </a:spcAft>
                <a:buNone/>
              </a:pPr>
              <a:r>
                <a:rPr b="0" i="0" lang="en-GB" sz="900" u="none" cap="none" strike="noStrike">
                  <a:solidFill>
                    <a:srgbClr val="F2F2F2"/>
                  </a:solidFill>
                  <a:latin typeface="Calibri"/>
                  <a:ea typeface="Calibri"/>
                  <a:cs typeface="Calibri"/>
                  <a:sym typeface="Calibri"/>
                </a:rPr>
                <a:t>Using </a:t>
              </a:r>
              <a:r>
                <a:rPr b="1" i="1" lang="en-GB" sz="900" u="sng" cap="none" strike="noStrike">
                  <a:solidFill>
                    <a:schemeClr val="hlink"/>
                  </a:solidFill>
                  <a:latin typeface="Calibri"/>
                  <a:ea typeface="Calibri"/>
                  <a:cs typeface="Calibri"/>
                  <a:sym typeface="Calibri"/>
                  <a:hlinkClick r:id="rId5"/>
                </a:rPr>
                <a:t>Caspr.ai</a:t>
              </a:r>
              <a:r>
                <a:rPr b="1" i="1" lang="en-GB" sz="900" u="none" cap="none" strike="noStrike">
                  <a:solidFill>
                    <a:srgbClr val="FFFFFF"/>
                  </a:solidFill>
                  <a:latin typeface="Calibri"/>
                  <a:ea typeface="Calibri"/>
                  <a:cs typeface="Calibri"/>
                  <a:sym typeface="Calibri"/>
                </a:rPr>
                <a:t> </a:t>
              </a:r>
              <a:r>
                <a:rPr b="0" i="0" lang="en-GB" sz="900" u="none" cap="none" strike="noStrike">
                  <a:solidFill>
                    <a:srgbClr val="F2F2F2"/>
                  </a:solidFill>
                  <a:latin typeface="Calibri"/>
                  <a:ea typeface="Calibri"/>
                  <a:cs typeface="Calibri"/>
                  <a:sym typeface="Calibri"/>
                </a:rPr>
                <a:t>you can create a comprehensive report with a single line prompt. The LLM interface guides you to refine the output and generates outputs in PDF, pptx, and other editable formats.</a:t>
              </a:r>
              <a:endParaRPr sz="1100"/>
            </a:p>
          </p:txBody>
        </p:sp>
        <p:pic>
          <p:nvPicPr>
            <p:cNvPr id="77" name="Google Shape;77;p13"/>
            <p:cNvPicPr preferRelativeResize="0"/>
            <p:nvPr/>
          </p:nvPicPr>
          <p:blipFill rotWithShape="1">
            <a:blip r:embed="rId6">
              <a:alphaModFix/>
            </a:blip>
            <a:srcRect b="0" l="7259" r="-7260" t="0"/>
            <a:stretch/>
          </p:blipFill>
          <p:spPr>
            <a:xfrm>
              <a:off x="8181067" y="2340895"/>
              <a:ext cx="975805" cy="428145"/>
            </a:xfrm>
            <a:prstGeom prst="rect">
              <a:avLst/>
            </a:prstGeom>
            <a:noFill/>
            <a:ln>
              <a:noFill/>
            </a:ln>
          </p:spPr>
        </p:pic>
      </p:grpSp>
      <p:sp>
        <p:nvSpPr>
          <p:cNvPr id="78" name="Google Shape;78;p13"/>
          <p:cNvSpPr/>
          <p:nvPr/>
        </p:nvSpPr>
        <p:spPr>
          <a:xfrm>
            <a:off x="6116343" y="4906275"/>
            <a:ext cx="1413900" cy="312000"/>
          </a:xfrm>
          <a:prstGeom prst="rect">
            <a:avLst/>
          </a:prstGeom>
          <a:noFill/>
          <a:ln>
            <a:noFill/>
          </a:ln>
        </p:spPr>
        <p:txBody>
          <a:bodyPr anchorCtr="0" anchor="t" bIns="34175" lIns="68375" spcFirstLastPara="1" rIns="68375" wrap="square" tIns="34175">
            <a:noAutofit/>
          </a:bodyPr>
          <a:lstStyle/>
          <a:p>
            <a:pPr indent="0" lvl="0" marL="0" marR="0" rtl="0" algn="l">
              <a:lnSpc>
                <a:spcPct val="100000"/>
              </a:lnSpc>
              <a:spcBef>
                <a:spcPts val="0"/>
              </a:spcBef>
              <a:spcAft>
                <a:spcPts val="0"/>
              </a:spcAft>
              <a:buNone/>
            </a:pPr>
            <a:r>
              <a:rPr b="0" i="0" lang="en-GB" sz="800" u="none" cap="none" strike="noStrike">
                <a:solidFill>
                  <a:srgbClr val="FFFFFF"/>
                </a:solidFill>
                <a:latin typeface="Inter"/>
                <a:ea typeface="Inter"/>
                <a:cs typeface="Inter"/>
                <a:sym typeface="Inter"/>
              </a:rPr>
              <a:t>desk@ghostresearch.com</a:t>
            </a:r>
            <a:endParaRPr sz="1100"/>
          </a:p>
        </p:txBody>
      </p:sp>
      <p:grpSp>
        <p:nvGrpSpPr>
          <p:cNvPr id="79" name="Google Shape;79;p13"/>
          <p:cNvGrpSpPr/>
          <p:nvPr/>
        </p:nvGrpSpPr>
        <p:grpSpPr>
          <a:xfrm>
            <a:off x="6177184" y="4685596"/>
            <a:ext cx="178942" cy="178942"/>
            <a:chOff x="7601245" y="5612461"/>
            <a:chExt cx="238589" cy="238589"/>
          </a:xfrm>
        </p:grpSpPr>
        <p:sp>
          <p:nvSpPr>
            <p:cNvPr id="80" name="Google Shape;80;p13"/>
            <p:cNvSpPr/>
            <p:nvPr/>
          </p:nvSpPr>
          <p:spPr>
            <a:xfrm>
              <a:off x="7601245" y="5612461"/>
              <a:ext cx="238589" cy="238589"/>
            </a:xfrm>
            <a:custGeom>
              <a:rect b="b" l="l" r="r" t="t"/>
              <a:pathLst>
                <a:path extrusionOk="0" h="883662" w="883662">
                  <a:moveTo>
                    <a:pt x="441832" y="36514"/>
                  </a:moveTo>
                  <a:cubicBezTo>
                    <a:pt x="217980" y="36514"/>
                    <a:pt x="36513" y="217981"/>
                    <a:pt x="36513" y="441832"/>
                  </a:cubicBezTo>
                  <a:cubicBezTo>
                    <a:pt x="36513" y="665683"/>
                    <a:pt x="217980" y="847150"/>
                    <a:pt x="441832" y="847150"/>
                  </a:cubicBezTo>
                  <a:cubicBezTo>
                    <a:pt x="665684" y="847150"/>
                    <a:pt x="847151" y="665683"/>
                    <a:pt x="847151" y="441832"/>
                  </a:cubicBezTo>
                  <a:cubicBezTo>
                    <a:pt x="847151" y="217981"/>
                    <a:pt x="665684" y="36514"/>
                    <a:pt x="441832" y="36514"/>
                  </a:cubicBezTo>
                  <a:close/>
                  <a:moveTo>
                    <a:pt x="441831" y="0"/>
                  </a:moveTo>
                  <a:cubicBezTo>
                    <a:pt x="685848" y="0"/>
                    <a:pt x="883662" y="197814"/>
                    <a:pt x="883662" y="441831"/>
                  </a:cubicBezTo>
                  <a:cubicBezTo>
                    <a:pt x="883662" y="685848"/>
                    <a:pt x="685848" y="883662"/>
                    <a:pt x="441831" y="883662"/>
                  </a:cubicBezTo>
                  <a:cubicBezTo>
                    <a:pt x="197814" y="883662"/>
                    <a:pt x="0" y="685848"/>
                    <a:pt x="0" y="441831"/>
                  </a:cubicBezTo>
                  <a:cubicBezTo>
                    <a:pt x="0" y="197814"/>
                    <a:pt x="197814" y="0"/>
                    <a:pt x="441831" y="0"/>
                  </a:cubicBezTo>
                  <a:close/>
                </a:path>
              </a:pathLst>
            </a:custGeom>
            <a:solidFill>
              <a:srgbClr val="FFFFFF"/>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nvGrpSpPr>
            <p:cNvPr id="81" name="Google Shape;81;p13"/>
            <p:cNvGrpSpPr/>
            <p:nvPr/>
          </p:nvGrpSpPr>
          <p:grpSpPr>
            <a:xfrm>
              <a:off x="7663163" y="5674859"/>
              <a:ext cx="113231" cy="113066"/>
              <a:chOff x="7663163" y="5674859"/>
              <a:chExt cx="113231" cy="113066"/>
            </a:xfrm>
          </p:grpSpPr>
          <p:sp>
            <p:nvSpPr>
              <p:cNvPr id="82" name="Google Shape;82;p13"/>
              <p:cNvSpPr/>
              <p:nvPr/>
            </p:nvSpPr>
            <p:spPr>
              <a:xfrm>
                <a:off x="7663163" y="5674859"/>
                <a:ext cx="26903" cy="113066"/>
              </a:xfrm>
              <a:custGeom>
                <a:rect b="b" l="l" r="r" t="t"/>
                <a:pathLst>
                  <a:path extrusionOk="0" h="187661" w="45215">
                    <a:moveTo>
                      <a:pt x="3096" y="62293"/>
                    </a:moveTo>
                    <a:lnTo>
                      <a:pt x="42120" y="62293"/>
                    </a:lnTo>
                    <a:lnTo>
                      <a:pt x="42120" y="187662"/>
                    </a:lnTo>
                    <a:lnTo>
                      <a:pt x="3096" y="187662"/>
                    </a:lnTo>
                    <a:lnTo>
                      <a:pt x="3096" y="62293"/>
                    </a:lnTo>
                    <a:close/>
                    <a:moveTo>
                      <a:pt x="22622" y="0"/>
                    </a:moveTo>
                    <a:cubicBezTo>
                      <a:pt x="35100" y="0"/>
                      <a:pt x="45215" y="10125"/>
                      <a:pt x="45215" y="22574"/>
                    </a:cubicBezTo>
                    <a:cubicBezTo>
                      <a:pt x="45215" y="35042"/>
                      <a:pt x="35100" y="45186"/>
                      <a:pt x="22622" y="45186"/>
                    </a:cubicBezTo>
                    <a:cubicBezTo>
                      <a:pt x="10106" y="45186"/>
                      <a:pt x="0" y="35052"/>
                      <a:pt x="0" y="22574"/>
                    </a:cubicBezTo>
                    <a:cubicBezTo>
                      <a:pt x="-10" y="10125"/>
                      <a:pt x="10106" y="0"/>
                      <a:pt x="22622" y="0"/>
                    </a:cubicBezTo>
                  </a:path>
                </a:pathLst>
              </a:custGeom>
              <a:solidFill>
                <a:srgbClr val="FFFFFF"/>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83" name="Google Shape;83;p13"/>
              <p:cNvSpPr/>
              <p:nvPr/>
            </p:nvSpPr>
            <p:spPr>
              <a:xfrm>
                <a:off x="7703483" y="5710379"/>
                <a:ext cx="72911" cy="77405"/>
              </a:xfrm>
              <a:custGeom>
                <a:rect b="b" l="l" r="r" t="t"/>
                <a:pathLst>
                  <a:path extrusionOk="0" h="128473" w="121519">
                    <a:moveTo>
                      <a:pt x="0" y="3105"/>
                    </a:moveTo>
                    <a:lnTo>
                      <a:pt x="37376" y="3105"/>
                    </a:lnTo>
                    <a:lnTo>
                      <a:pt x="37376" y="20250"/>
                    </a:lnTo>
                    <a:lnTo>
                      <a:pt x="37890" y="20250"/>
                    </a:lnTo>
                    <a:cubicBezTo>
                      <a:pt x="43101" y="10382"/>
                      <a:pt x="55817" y="0"/>
                      <a:pt x="74790" y="0"/>
                    </a:cubicBezTo>
                    <a:cubicBezTo>
                      <a:pt x="114243" y="0"/>
                      <a:pt x="121520" y="25946"/>
                      <a:pt x="121520" y="59712"/>
                    </a:cubicBezTo>
                    <a:lnTo>
                      <a:pt x="121520" y="128473"/>
                    </a:lnTo>
                    <a:lnTo>
                      <a:pt x="82582" y="128473"/>
                    </a:lnTo>
                    <a:lnTo>
                      <a:pt x="82582" y="67523"/>
                    </a:lnTo>
                    <a:cubicBezTo>
                      <a:pt x="82582" y="52969"/>
                      <a:pt x="82296" y="34280"/>
                      <a:pt x="62332" y="34280"/>
                    </a:cubicBezTo>
                    <a:cubicBezTo>
                      <a:pt x="42043" y="34280"/>
                      <a:pt x="38957" y="50111"/>
                      <a:pt x="38957" y="66465"/>
                    </a:cubicBezTo>
                    <a:lnTo>
                      <a:pt x="38957" y="128473"/>
                    </a:lnTo>
                    <a:lnTo>
                      <a:pt x="10" y="128473"/>
                    </a:lnTo>
                    <a:lnTo>
                      <a:pt x="10" y="3105"/>
                    </a:lnTo>
                    <a:close/>
                  </a:path>
                </a:pathLst>
              </a:custGeom>
              <a:solidFill>
                <a:srgbClr val="FFFFFF"/>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grpSp>
        <p:nvGrpSpPr>
          <p:cNvPr id="84" name="Google Shape;84;p13"/>
          <p:cNvGrpSpPr/>
          <p:nvPr/>
        </p:nvGrpSpPr>
        <p:grpSpPr>
          <a:xfrm>
            <a:off x="6388856" y="4685596"/>
            <a:ext cx="178942" cy="178942"/>
            <a:chOff x="7883475" y="5612461"/>
            <a:chExt cx="238589" cy="238589"/>
          </a:xfrm>
        </p:grpSpPr>
        <p:sp>
          <p:nvSpPr>
            <p:cNvPr id="85" name="Google Shape;85;p13"/>
            <p:cNvSpPr/>
            <p:nvPr/>
          </p:nvSpPr>
          <p:spPr>
            <a:xfrm>
              <a:off x="7947313" y="5674859"/>
              <a:ext cx="110218" cy="113153"/>
            </a:xfrm>
            <a:custGeom>
              <a:rect b="b" l="l" r="r" t="t"/>
              <a:pathLst>
                <a:path extrusionOk="0" h="206673" w="202234">
                  <a:moveTo>
                    <a:pt x="120348" y="87516"/>
                  </a:moveTo>
                  <a:lnTo>
                    <a:pt x="195634" y="0"/>
                  </a:lnTo>
                  <a:lnTo>
                    <a:pt x="177794" y="0"/>
                  </a:lnTo>
                  <a:lnTo>
                    <a:pt x="112424" y="75990"/>
                  </a:lnTo>
                  <a:lnTo>
                    <a:pt x="60217" y="0"/>
                  </a:lnTo>
                  <a:lnTo>
                    <a:pt x="0" y="0"/>
                  </a:lnTo>
                  <a:lnTo>
                    <a:pt x="78953" y="114900"/>
                  </a:lnTo>
                  <a:lnTo>
                    <a:pt x="0" y="206673"/>
                  </a:lnTo>
                  <a:lnTo>
                    <a:pt x="17840" y="206673"/>
                  </a:lnTo>
                  <a:lnTo>
                    <a:pt x="86878" y="126425"/>
                  </a:lnTo>
                  <a:lnTo>
                    <a:pt x="142018" y="206673"/>
                  </a:lnTo>
                  <a:lnTo>
                    <a:pt x="202235" y="206673"/>
                  </a:lnTo>
                  <a:lnTo>
                    <a:pt x="120348" y="87516"/>
                  </a:lnTo>
                  <a:lnTo>
                    <a:pt x="120348" y="87516"/>
                  </a:lnTo>
                  <a:close/>
                  <a:moveTo>
                    <a:pt x="95907" y="115919"/>
                  </a:moveTo>
                  <a:lnTo>
                    <a:pt x="87906" y="104480"/>
                  </a:lnTo>
                  <a:lnTo>
                    <a:pt x="24260" y="13430"/>
                  </a:lnTo>
                  <a:lnTo>
                    <a:pt x="51664" y="13430"/>
                  </a:lnTo>
                  <a:lnTo>
                    <a:pt x="103032" y="86906"/>
                  </a:lnTo>
                  <a:lnTo>
                    <a:pt x="111033" y="98345"/>
                  </a:lnTo>
                  <a:lnTo>
                    <a:pt x="177803" y="193853"/>
                  </a:lnTo>
                  <a:lnTo>
                    <a:pt x="150400" y="193853"/>
                  </a:lnTo>
                  <a:lnTo>
                    <a:pt x="95907" y="115919"/>
                  </a:lnTo>
                  <a:lnTo>
                    <a:pt x="95907" y="115919"/>
                  </a:lnTo>
                  <a:close/>
                </a:path>
              </a:pathLst>
            </a:custGeom>
            <a:solidFill>
              <a:srgbClr val="FFFFFF"/>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86" name="Google Shape;86;p13"/>
            <p:cNvSpPr/>
            <p:nvPr/>
          </p:nvSpPr>
          <p:spPr>
            <a:xfrm>
              <a:off x="7883475" y="5612461"/>
              <a:ext cx="238589" cy="238589"/>
            </a:xfrm>
            <a:custGeom>
              <a:rect b="b" l="l" r="r" t="t"/>
              <a:pathLst>
                <a:path extrusionOk="0" h="883662" w="883662">
                  <a:moveTo>
                    <a:pt x="441832" y="36514"/>
                  </a:moveTo>
                  <a:cubicBezTo>
                    <a:pt x="217980" y="36514"/>
                    <a:pt x="36513" y="217981"/>
                    <a:pt x="36513" y="441832"/>
                  </a:cubicBezTo>
                  <a:cubicBezTo>
                    <a:pt x="36513" y="665683"/>
                    <a:pt x="217980" y="847150"/>
                    <a:pt x="441832" y="847150"/>
                  </a:cubicBezTo>
                  <a:cubicBezTo>
                    <a:pt x="665684" y="847150"/>
                    <a:pt x="847151" y="665683"/>
                    <a:pt x="847151" y="441832"/>
                  </a:cubicBezTo>
                  <a:cubicBezTo>
                    <a:pt x="847151" y="217981"/>
                    <a:pt x="665684" y="36514"/>
                    <a:pt x="441832" y="36514"/>
                  </a:cubicBezTo>
                  <a:close/>
                  <a:moveTo>
                    <a:pt x="441831" y="0"/>
                  </a:moveTo>
                  <a:cubicBezTo>
                    <a:pt x="685848" y="0"/>
                    <a:pt x="883662" y="197814"/>
                    <a:pt x="883662" y="441831"/>
                  </a:cubicBezTo>
                  <a:cubicBezTo>
                    <a:pt x="883662" y="685848"/>
                    <a:pt x="685848" y="883662"/>
                    <a:pt x="441831" y="883662"/>
                  </a:cubicBezTo>
                  <a:cubicBezTo>
                    <a:pt x="197814" y="883662"/>
                    <a:pt x="0" y="685848"/>
                    <a:pt x="0" y="441831"/>
                  </a:cubicBezTo>
                  <a:cubicBezTo>
                    <a:pt x="0" y="197814"/>
                    <a:pt x="197814" y="0"/>
                    <a:pt x="441831" y="0"/>
                  </a:cubicBezTo>
                  <a:close/>
                </a:path>
              </a:pathLst>
            </a:custGeom>
            <a:solidFill>
              <a:srgbClr val="FFFFFF"/>
            </a:solidFill>
            <a:ln>
              <a:noFill/>
            </a:ln>
          </p:spPr>
          <p:txBody>
            <a:bodyPr anchorCtr="0" anchor="ctr" bIns="34175" lIns="68375" spcFirstLastPara="1" rIns="68375" wrap="square" tIns="341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
        <p:nvSpPr>
          <p:cNvPr id="87" name="Google Shape;87;p13"/>
          <p:cNvSpPr/>
          <p:nvPr/>
        </p:nvSpPr>
        <p:spPr>
          <a:xfrm>
            <a:off x="6166384" y="4906268"/>
            <a:ext cx="2837808" cy="378"/>
          </a:xfrm>
          <a:custGeom>
            <a:rect b="b" l="l" r="r" t="t"/>
            <a:pathLst>
              <a:path extrusionOk="0" h="21600" w="21600">
                <a:moveTo>
                  <a:pt x="0" y="0"/>
                </a:moveTo>
                <a:lnTo>
                  <a:pt x="21600" y="21600"/>
                </a:lnTo>
              </a:path>
            </a:pathLst>
          </a:custGeom>
          <a:noFill/>
          <a:ln cap="flat" cmpd="sng" w="10800">
            <a:solidFill>
              <a:srgbClr val="FFFFFF"/>
            </a:solidFill>
            <a:prstDash val="solid"/>
            <a:miter lim="8000"/>
            <a:headEnd len="sm" w="sm" type="none"/>
            <a:tailEnd len="sm" w="sm" type="none"/>
          </a:ln>
        </p:spPr>
        <p:txBody>
          <a:bodyPr anchorCtr="0" anchor="t" bIns="44975" lIns="89975" spcFirstLastPara="1" rIns="89975" wrap="square" tIns="449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nvGrpSpPr>
          <p:cNvPr id="88" name="Google Shape;88;p13"/>
          <p:cNvGrpSpPr/>
          <p:nvPr/>
        </p:nvGrpSpPr>
        <p:grpSpPr>
          <a:xfrm>
            <a:off x="6181504" y="465104"/>
            <a:ext cx="2837700" cy="1729432"/>
            <a:chOff x="7607005" y="-14861"/>
            <a:chExt cx="3783600" cy="2305909"/>
          </a:xfrm>
        </p:grpSpPr>
        <p:sp>
          <p:nvSpPr>
            <p:cNvPr id="89" name="Google Shape;89;p13"/>
            <p:cNvSpPr/>
            <p:nvPr/>
          </p:nvSpPr>
          <p:spPr>
            <a:xfrm>
              <a:off x="7607005" y="287048"/>
              <a:ext cx="3783600" cy="2004000"/>
            </a:xfrm>
            <a:prstGeom prst="rect">
              <a:avLst/>
            </a:prstGeom>
            <a:noFill/>
            <a:ln>
              <a:noFill/>
            </a:ln>
          </p:spPr>
          <p:txBody>
            <a:bodyPr anchorCtr="0" anchor="t" bIns="34175" lIns="68375" spcFirstLastPara="1" rIns="68375" wrap="square" tIns="34175">
              <a:noAutofit/>
            </a:bodyPr>
            <a:lstStyle/>
            <a:p>
              <a:pPr indent="0" lvl="0" marL="0" marR="0" rtl="0" algn="l">
                <a:lnSpc>
                  <a:spcPct val="100000"/>
                </a:lnSpc>
                <a:spcBef>
                  <a:spcPts val="0"/>
                </a:spcBef>
                <a:spcAft>
                  <a:spcPts val="0"/>
                </a:spcAft>
                <a:buNone/>
              </a:pPr>
              <a:r>
                <a:rPr b="0" i="0" lang="en-GB" sz="900" u="none" cap="none" strike="noStrike">
                  <a:solidFill>
                    <a:srgbClr val="F2F2F2"/>
                  </a:solidFill>
                  <a:latin typeface="Calibri"/>
                  <a:ea typeface="Calibri"/>
                  <a:cs typeface="Calibri"/>
                  <a:sym typeface="Calibri"/>
                </a:rPr>
                <a:t>Ghost Research is the world’s first AI Native Market Research Agency. Our Proprietary AI Research Analyst Caspr. curates </a:t>
              </a:r>
              <a:r>
                <a:rPr b="1" i="0" lang="en-GB" sz="900" u="none" cap="none" strike="noStrike">
                  <a:solidFill>
                    <a:srgbClr val="F2F2F2"/>
                  </a:solidFill>
                  <a:latin typeface="Calibri"/>
                  <a:ea typeface="Calibri"/>
                  <a:cs typeface="Calibri"/>
                  <a:sym typeface="Calibri"/>
                </a:rPr>
                <a:t>credible data </a:t>
              </a:r>
              <a:r>
                <a:rPr b="0" i="0" lang="en-GB" sz="900" u="none" cap="none" strike="noStrike">
                  <a:solidFill>
                    <a:srgbClr val="F2F2F2"/>
                  </a:solidFill>
                  <a:latin typeface="Calibri"/>
                  <a:ea typeface="Calibri"/>
                  <a:cs typeface="Calibri"/>
                  <a:sym typeface="Calibri"/>
                </a:rPr>
                <a:t>to generate </a:t>
              </a:r>
              <a:r>
                <a:rPr b="1" i="0" lang="en-GB" sz="900" u="none" cap="none" strike="noStrike">
                  <a:solidFill>
                    <a:srgbClr val="F2F2F2"/>
                  </a:solidFill>
                  <a:latin typeface="Calibri"/>
                  <a:ea typeface="Calibri"/>
                  <a:cs typeface="Calibri"/>
                  <a:sym typeface="Calibri"/>
                </a:rPr>
                <a:t>deeper insights </a:t>
              </a:r>
              <a:r>
                <a:rPr b="0" i="0" lang="en-GB" sz="900" u="none" cap="none" strike="noStrike">
                  <a:solidFill>
                    <a:srgbClr val="F2F2F2"/>
                  </a:solidFill>
                  <a:latin typeface="Calibri"/>
                  <a:ea typeface="Calibri"/>
                  <a:cs typeface="Calibri"/>
                  <a:sym typeface="Calibri"/>
                </a:rPr>
                <a:t>than traditional research.</a:t>
              </a:r>
              <a:endParaRPr sz="1100"/>
            </a:p>
            <a:p>
              <a:pPr indent="0" lvl="0" marL="0" marR="0" rtl="0" algn="l">
                <a:lnSpc>
                  <a:spcPct val="100000"/>
                </a:lnSpc>
                <a:spcBef>
                  <a:spcPts val="500"/>
                </a:spcBef>
                <a:spcAft>
                  <a:spcPts val="0"/>
                </a:spcAft>
                <a:buNone/>
              </a:pPr>
              <a:r>
                <a:rPr b="1" i="0" lang="en-GB" sz="900" u="none" cap="none" strike="noStrike">
                  <a:solidFill>
                    <a:srgbClr val="F2F2F2"/>
                  </a:solidFill>
                  <a:latin typeface="Calibri"/>
                  <a:ea typeface="Calibri"/>
                  <a:cs typeface="Calibri"/>
                  <a:sym typeface="Calibri"/>
                </a:rPr>
                <a:t>Industry-leading Ghost Research Experts </a:t>
              </a:r>
              <a:r>
                <a:rPr b="0" i="0" lang="en-GB" sz="900" u="none" cap="none" strike="noStrike">
                  <a:solidFill>
                    <a:srgbClr val="F2F2F2"/>
                  </a:solidFill>
                  <a:latin typeface="Calibri"/>
                  <a:ea typeface="Calibri"/>
                  <a:cs typeface="Calibri"/>
                  <a:sym typeface="Calibri"/>
                </a:rPr>
                <a:t>across Sectors, Topics, Themes and Geographies enhance these reports with their knowledge delivering insights to you at </a:t>
              </a:r>
              <a:r>
                <a:rPr b="1" i="0" lang="en-GB" sz="900" u="none" cap="none" strike="noStrike">
                  <a:solidFill>
                    <a:srgbClr val="F2F2F2"/>
                  </a:solidFill>
                  <a:latin typeface="Calibri"/>
                  <a:ea typeface="Calibri"/>
                  <a:cs typeface="Calibri"/>
                  <a:sym typeface="Calibri"/>
                </a:rPr>
                <a:t>one-tenth the cost </a:t>
              </a:r>
              <a:r>
                <a:rPr b="0" i="0" lang="en-GB" sz="900" u="none" cap="none" strike="noStrike">
                  <a:solidFill>
                    <a:srgbClr val="F2F2F2"/>
                  </a:solidFill>
                  <a:latin typeface="Calibri"/>
                  <a:ea typeface="Calibri"/>
                  <a:cs typeface="Calibri"/>
                  <a:sym typeface="Calibri"/>
                </a:rPr>
                <a:t>of traditional research firms.</a:t>
              </a:r>
              <a:endParaRPr sz="1100"/>
            </a:p>
          </p:txBody>
        </p:sp>
        <p:pic>
          <p:nvPicPr>
            <p:cNvPr id="90" name="Google Shape;90;p13"/>
            <p:cNvPicPr preferRelativeResize="0"/>
            <p:nvPr/>
          </p:nvPicPr>
          <p:blipFill rotWithShape="1">
            <a:blip r:embed="rId7">
              <a:alphaModFix/>
            </a:blip>
            <a:srcRect b="0" l="0" r="0" t="0"/>
            <a:stretch/>
          </p:blipFill>
          <p:spPr>
            <a:xfrm>
              <a:off x="7683325" y="-14861"/>
              <a:ext cx="1845055" cy="392146"/>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